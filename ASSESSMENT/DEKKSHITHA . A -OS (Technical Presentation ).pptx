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7DF18680-E054-41AD-8BC1-D1AEF772440D}" styleName="Medium Style 2 - Accent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  <a:tblStyle styleId="{93296810-A885-4BE3-A3E7-6D5BEEA58F35}" styleName="Medium Style 2 - Accent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58" d="100"/>
          <a:sy n="58" d="100"/>
        </p:scale>
        <p:origin x="988" y="4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51012" y="1300785"/>
            <a:ext cx="8689976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751012" y="3886200"/>
            <a:ext cx="8689976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103638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828563"/>
            <a:ext cx="10351752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4" y="3657457"/>
            <a:ext cx="10351752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913774" y="2367092"/>
            <a:ext cx="5106026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6172200" y="2367092"/>
            <a:ext cx="5105400" cy="34241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Picture 14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46328" y="2371018"/>
            <a:ext cx="487347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913774" y="3051012"/>
            <a:ext cx="5106027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396423" y="2371018"/>
            <a:ext cx="4881804" cy="679994"/>
          </a:xfrm>
        </p:spPr>
        <p:txBody>
          <a:bodyPr anchor="b">
            <a:noAutofit/>
          </a:bodyPr>
          <a:lstStyle>
            <a:lvl1pPr marL="0" indent="0">
              <a:lnSpc>
                <a:spcPct val="8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6172200" y="3051012"/>
            <a:ext cx="5105401" cy="27401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609600"/>
            <a:ext cx="3935688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5078062" y="609600"/>
            <a:ext cx="6200163" cy="51815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2632852"/>
            <a:ext cx="3935689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5934969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424803" y="609601"/>
            <a:ext cx="3255358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94" y="2632852"/>
            <a:ext cx="5934949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94" y="4289374"/>
            <a:ext cx="10364432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84744" y="698261"/>
            <a:ext cx="9822532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5108728"/>
            <a:ext cx="10364452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4" y="609599"/>
            <a:ext cx="10364452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204821"/>
            <a:ext cx="10364452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6212" y="609600"/>
            <a:ext cx="9302752" cy="2992904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720644" y="3610032"/>
            <a:ext cx="8752299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4" y="4372796"/>
            <a:ext cx="10364452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  <p:sp>
        <p:nvSpPr>
          <p:cNvPr id="13" name="TextBox 12"/>
          <p:cNvSpPr txBox="1"/>
          <p:nvPr/>
        </p:nvSpPr>
        <p:spPr>
          <a:xfrm>
            <a:off x="1001488" y="75416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57558" y="29935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3775" y="2138721"/>
            <a:ext cx="10364452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913775" y="4662335"/>
            <a:ext cx="10364452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913774" y="609600"/>
            <a:ext cx="10364452" cy="160509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913774" y="2367093"/>
            <a:ext cx="329897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913774" y="2943355"/>
            <a:ext cx="329897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52389" y="2367093"/>
            <a:ext cx="329152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4441348" y="2943355"/>
            <a:ext cx="3303351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2367093"/>
            <a:ext cx="33049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7973298" y="2943355"/>
            <a:ext cx="3304928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Picture 15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913774" y="610772"/>
            <a:ext cx="10364452" cy="160392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913774" y="4204820"/>
            <a:ext cx="3296409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913774" y="2367093"/>
            <a:ext cx="3296409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913774" y="4781082"/>
            <a:ext cx="3296409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442759" y="4204820"/>
            <a:ext cx="3301828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441348" y="2367093"/>
            <a:ext cx="3303352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4441348" y="4781080"/>
            <a:ext cx="3303352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73298" y="4204820"/>
            <a:ext cx="330068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8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973298" y="2367093"/>
            <a:ext cx="3304928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73173" y="4781078"/>
            <a:ext cx="3305053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2367093"/>
            <a:ext cx="10364452" cy="342410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H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609601"/>
            <a:ext cx="2553326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913775" y="609601"/>
            <a:ext cx="7658724" cy="518159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A87A34-81AB-432B-8DAE-1953F412C126}" type="datetimeFigureOut">
              <a:rPr lang="en-US" dirty="0"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D22F896-40B5-4ADD-8801-0D06FADFA095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19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-1"/>
            <a:ext cx="12192003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913775" y="618517"/>
            <a:ext cx="10364451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13775" y="2367093"/>
            <a:ext cx="10364452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78737" y="5883275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48A87A34-81AB-432B-8DAE-1953F412C126}" type="datetimeFigureOut">
              <a:rPr lang="en-US" dirty="0"/>
              <a:pPr/>
              <a:t>7/21/2026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913774" y="5883275"/>
            <a:ext cx="667288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14011" y="5883275"/>
            <a:ext cx="76421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6D22F896-40B5-4ADD-8801-0D06FADFA09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60" r:id="rId10"/>
    <p:sldLayoutId id="2147483661" r:id="rId11"/>
    <p:sldLayoutId id="2147483666" r:id="rId12"/>
    <p:sldLayoutId id="2147483663" r:id="rId13"/>
    <p:sldLayoutId id="2147483667" r:id="rId14"/>
    <p:sldLayoutId id="2147483668" r:id="rId15"/>
    <p:sldLayoutId id="2147483658" r:id="rId16"/>
    <p:sldLayoutId id="2147483659" r:id="rId17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e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B63893-5AA6-7A2E-B974-69CB1BFFBB6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72029" y="0"/>
            <a:ext cx="10686362" cy="2908453"/>
          </a:xfrm>
        </p:spPr>
        <p:txBody>
          <a:bodyPr>
            <a:normAutofit/>
          </a:bodyPr>
          <a:lstStyle/>
          <a:p>
            <a:r>
              <a:rPr lang="en-GB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operating System Resource Management in a Multi-User Linux-Based Server Environment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6864009-B973-5601-F25A-BC00015AFE1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61331" y="4842356"/>
            <a:ext cx="5139431" cy="1371599"/>
          </a:xfrm>
        </p:spPr>
        <p:txBody>
          <a:bodyPr>
            <a:normAutofit/>
          </a:bodyPr>
          <a:lstStyle/>
          <a:p>
            <a:pPr algn="l"/>
            <a:r>
              <a:rPr lang="en-IN" sz="28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 </a:t>
            </a:r>
          </a:p>
          <a:p>
            <a:r>
              <a:rPr lang="en-IN" sz="2800" b="1" cap="none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    A. Dekkshitha (192572133)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F792417-8035-5688-69A7-88107CD4737B}"/>
              </a:ext>
            </a:extLst>
          </p:cNvPr>
          <p:cNvSpPr txBox="1"/>
          <p:nvPr/>
        </p:nvSpPr>
        <p:spPr>
          <a:xfrm>
            <a:off x="2162978" y="2860756"/>
            <a:ext cx="7866043" cy="49244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2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Sharing, Device Access &amp; Kernel Interaction</a:t>
            </a:r>
            <a:endParaRPr lang="en-IN" sz="2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826FB38-33B2-915C-91D8-0516A9788C3A}"/>
              </a:ext>
            </a:extLst>
          </p:cNvPr>
          <p:cNvSpPr txBox="1"/>
          <p:nvPr/>
        </p:nvSpPr>
        <p:spPr>
          <a:xfrm>
            <a:off x="2594472" y="3359825"/>
            <a:ext cx="6097836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CSA0401-OPERATING SYSTEMS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E343036-673C-7394-5901-576F11F6E1BF}"/>
              </a:ext>
            </a:extLst>
          </p:cNvPr>
          <p:cNvSpPr txBox="1"/>
          <p:nvPr/>
        </p:nvSpPr>
        <p:spPr>
          <a:xfrm>
            <a:off x="591238" y="5073745"/>
            <a:ext cx="5139431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Guided by:</a:t>
            </a:r>
          </a:p>
          <a:p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Dr. J. Ruby Elizabeth</a:t>
            </a:r>
          </a:p>
        </p:txBody>
      </p:sp>
    </p:spTree>
    <p:extLst>
      <p:ext uri="{BB962C8B-B14F-4D97-AF65-F5344CB8AC3E}">
        <p14:creationId xmlns:p14="http://schemas.microsoft.com/office/powerpoint/2010/main" val="16613465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E4AC02-EABF-48B3-A31B-15082BB40B3A}"/>
              </a:ext>
            </a:extLst>
          </p:cNvPr>
          <p:cNvSpPr txBox="1"/>
          <p:nvPr/>
        </p:nvSpPr>
        <p:spPr>
          <a:xfrm>
            <a:off x="1465244" y="288272"/>
            <a:ext cx="893468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buNone/>
            </a:pPr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- Multi-User Linux Server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AFC8FB80-7E50-530A-C101-77331329D891}"/>
              </a:ext>
            </a:extLst>
          </p:cNvPr>
          <p:cNvSpPr>
            <a:spLocks noChangeArrowheads="1"/>
          </p:cNvSpPr>
          <p:nvPr/>
        </p:nvSpPr>
        <p:spPr bwMode="auto">
          <a:xfrm>
            <a:off x="231087" y="1443210"/>
            <a:ext cx="6456152" cy="470898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Linux supports multiple users simultaneously.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Users can share files and access system resources.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The Operating System manages hardware and software resources efficiently. </a:t>
            </a:r>
          </a:p>
          <a:p>
            <a:pPr marL="0" marR="0" lvl="0" indent="0" algn="just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Ensures security, fairness, and system stability. </a:t>
            </a:r>
          </a:p>
        </p:txBody>
      </p:sp>
      <p:pic>
        <p:nvPicPr>
          <p:cNvPr id="1027" name="Picture 3" descr="White-Label Reseller Hosting UK NVMe | WHMCS Included | UK SPEED - UK SPEED">
            <a:extLst>
              <a:ext uri="{FF2B5EF4-FFF2-40B4-BE49-F238E27FC236}">
                <a16:creationId xmlns:a16="http://schemas.microsoft.com/office/drawing/2014/main" id="{1014E408-2E2C-DB93-DCAE-3E6795D885B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39653" y="1443210"/>
            <a:ext cx="4921260" cy="4500390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40808325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3C67D92F-202E-23F3-929D-90B916F25AC2}"/>
              </a:ext>
            </a:extLst>
          </p:cNvPr>
          <p:cNvSpPr txBox="1"/>
          <p:nvPr/>
        </p:nvSpPr>
        <p:spPr>
          <a:xfrm>
            <a:off x="3047082" y="349653"/>
            <a:ext cx="6097836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Scenario Overview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138F4F2-5F78-02BE-76F4-98E5A77FB6B9}"/>
              </a:ext>
            </a:extLst>
          </p:cNvPr>
          <p:cNvSpPr txBox="1"/>
          <p:nvPr/>
        </p:nvSpPr>
        <p:spPr>
          <a:xfrm>
            <a:off x="614190" y="1337701"/>
            <a:ext cx="609783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Server Environment:</a:t>
            </a:r>
          </a:p>
          <a:p>
            <a:pPr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buNone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</a:t>
            </a:r>
          </a:p>
          <a:p>
            <a:pPr>
              <a:buNone/>
            </a:pPr>
            <a:endParaRPr lang="en-IN" sz="3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users connected through SSH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project folders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Shared printer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storage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devices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Multiple running applications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470EBCB-3977-0255-AA17-B51619C64A0A}"/>
              </a:ext>
            </a:extLst>
          </p:cNvPr>
          <p:cNvSpPr txBox="1"/>
          <p:nvPr/>
        </p:nvSpPr>
        <p:spPr>
          <a:xfrm>
            <a:off x="7326216" y="1668044"/>
            <a:ext cx="3888955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Responsibilities:</a:t>
            </a:r>
          </a:p>
          <a:p>
            <a:pPr>
              <a:buNone/>
            </a:pPr>
            <a:endParaRPr lang="en-IN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Resource allocation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authentication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protection </a:t>
            </a:r>
          </a:p>
          <a:p>
            <a:pPr algn="ctr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</a:t>
            </a:r>
          </a:p>
        </p:txBody>
      </p:sp>
    </p:spTree>
    <p:extLst>
      <p:ext uri="{BB962C8B-B14F-4D97-AF65-F5344CB8AC3E}">
        <p14:creationId xmlns:p14="http://schemas.microsoft.com/office/powerpoint/2010/main" val="1904232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8B74BFF-C8EE-36C9-ADE1-C37FB4098923}"/>
              </a:ext>
            </a:extLst>
          </p:cNvPr>
          <p:cNvSpPr txBox="1"/>
          <p:nvPr/>
        </p:nvSpPr>
        <p:spPr>
          <a:xfrm>
            <a:off x="1465244" y="261516"/>
            <a:ext cx="941942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OS Functions in Resource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947E53-C5C9-CC13-7D55-B1AA6EE47A2B}"/>
              </a:ext>
            </a:extLst>
          </p:cNvPr>
          <p:cNvSpPr txBox="1"/>
          <p:nvPr/>
        </p:nvSpPr>
        <p:spPr>
          <a:xfrm>
            <a:off x="404868" y="1536174"/>
            <a:ext cx="7097617" cy="37856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Major Resource Management Functions:</a:t>
            </a:r>
          </a:p>
          <a:p>
            <a:endParaRPr lang="en-GB" sz="3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 </a:t>
            </a:r>
          </a:p>
          <a:p>
            <a:pPr marL="914400" lvl="1" indent="-457200">
              <a:buFont typeface="Wingdings" panose="05000000000000000000" pitchFamily="2" charset="2"/>
              <a:buChar char="Ø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Security and Protection</a:t>
            </a:r>
          </a:p>
        </p:txBody>
      </p:sp>
      <p:pic>
        <p:nvPicPr>
          <p:cNvPr id="3074" name="Picture 2" descr="System Software (Operating Systems, Utilities) (OCR GCSE)">
            <a:extLst>
              <a:ext uri="{FF2B5EF4-FFF2-40B4-BE49-F238E27FC236}">
                <a16:creationId xmlns:a16="http://schemas.microsoft.com/office/drawing/2014/main" id="{1E41CEF5-34DA-208E-16A2-5B3F6307611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01648" y="2276134"/>
            <a:ext cx="5331248" cy="4217625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41038288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D20DDD5-92A0-8575-FD7B-97CBE3186ECF}"/>
              </a:ext>
            </a:extLst>
          </p:cNvPr>
          <p:cNvSpPr txBox="1"/>
          <p:nvPr/>
        </p:nvSpPr>
        <p:spPr>
          <a:xfrm>
            <a:off x="1872867" y="360669"/>
            <a:ext cx="813044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and CPU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6109B90-315A-AFD4-EBA5-7FD4160A1809}"/>
              </a:ext>
            </a:extLst>
          </p:cNvPr>
          <p:cNvSpPr txBox="1"/>
          <p:nvPr/>
        </p:nvSpPr>
        <p:spPr>
          <a:xfrm>
            <a:off x="848299" y="1548901"/>
            <a:ext cx="6326435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 Management: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Creates and terminates processes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Performs context switching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Handles multitasking </a:t>
            </a:r>
          </a:p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CPU Scheduling: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CPU among users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Prioritizes processes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Improves response time </a:t>
            </a:r>
          </a:p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Scheduler: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Completely Fair Scheduler (CFS)</a:t>
            </a:r>
          </a:p>
        </p:txBody>
      </p:sp>
      <p:pic>
        <p:nvPicPr>
          <p:cNvPr id="4098" name="Picture 2" descr="#operatingsystems #contextswitching #techconcepts #csfundamentals #linkedinlearning #systemdesign #multitasking #cpu #rutujalearns | Rutuja  S Bhutekar">
            <a:extLst>
              <a:ext uri="{FF2B5EF4-FFF2-40B4-BE49-F238E27FC236}">
                <a16:creationId xmlns:a16="http://schemas.microsoft.com/office/drawing/2014/main" id="{AADDD7C0-EB48-EFEB-8403-30AEDEA4C86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790590" y="1548901"/>
            <a:ext cx="5170056" cy="4708981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19378828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0E7869C7-0B57-386E-0219-493E0FC9EE78}"/>
              </a:ext>
            </a:extLst>
          </p:cNvPr>
          <p:cNvSpPr txBox="1"/>
          <p:nvPr/>
        </p:nvSpPr>
        <p:spPr>
          <a:xfrm>
            <a:off x="1156771" y="382704"/>
            <a:ext cx="10003315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and File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8466EAF-BAD6-1643-D36D-CCADD17EF456}"/>
              </a:ext>
            </a:extLst>
          </p:cNvPr>
          <p:cNvSpPr txBox="1"/>
          <p:nvPr/>
        </p:nvSpPr>
        <p:spPr>
          <a:xfrm>
            <a:off x="724359" y="1581952"/>
            <a:ext cx="6097836" cy="470898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Management: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Allocates RAM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Virtual Memory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Paging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Memory Protection </a:t>
            </a:r>
          </a:p>
          <a:p>
            <a:pPr>
              <a:buNone/>
            </a:pPr>
            <a:r>
              <a:rPr lang="en-GB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Management: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files and directories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Access permissions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Ownership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GB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Disk space allocation</a:t>
            </a:r>
          </a:p>
        </p:txBody>
      </p:sp>
      <p:pic>
        <p:nvPicPr>
          <p:cNvPr id="5122" name="Picture 2" descr="Notes for 6.1.4 Resource Management Techniques - IB | RevisionDojo">
            <a:extLst>
              <a:ext uri="{FF2B5EF4-FFF2-40B4-BE49-F238E27FC236}">
                <a16:creationId xmlns:a16="http://schemas.microsoft.com/office/drawing/2014/main" id="{A422B7E8-9F21-72BA-96AE-634120B9EDA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2834" y="1404755"/>
            <a:ext cx="5431316" cy="4886178"/>
          </a:xfrm>
          <a:prstGeom prst="rect">
            <a:avLst/>
          </a:prstGeom>
          <a:ln w="2286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75674762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8B78851-4E86-1788-3EAF-064B22E30A85}"/>
              </a:ext>
            </a:extLst>
          </p:cNvPr>
          <p:cNvSpPr txBox="1"/>
          <p:nvPr/>
        </p:nvSpPr>
        <p:spPr>
          <a:xfrm>
            <a:off x="2864385" y="272534"/>
            <a:ext cx="7028761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Management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D5508D4-2043-F44E-3388-047571AC862B}"/>
              </a:ext>
            </a:extLst>
          </p:cNvPr>
          <p:cNvSpPr txBox="1"/>
          <p:nvPr/>
        </p:nvSpPr>
        <p:spPr>
          <a:xfrm>
            <a:off x="944696" y="1244825"/>
            <a:ext cx="6535756" cy="51706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457200" indent="-457200">
              <a:buFont typeface="Wingdings" panose="05000000000000000000" pitchFamily="2" charset="2"/>
              <a:buChar char="Ø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Linux treats devices as files.</a:t>
            </a:r>
          </a:p>
          <a:p>
            <a:pPr lvl="1"/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Examples: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Keyboard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Hard Disk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USB Drive </a:t>
            </a:r>
          </a:p>
          <a:p>
            <a:pPr lvl="2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Network Interface </a:t>
            </a:r>
          </a:p>
          <a:p>
            <a:pPr>
              <a:buNone/>
            </a:pPr>
            <a:r>
              <a:rPr lang="en-IN" sz="3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Responsibilities: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Device Drivers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Buffering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Interrupt Handling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IN" sz="3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Input/Output Control</a:t>
            </a:r>
          </a:p>
        </p:txBody>
      </p:sp>
      <p:pic>
        <p:nvPicPr>
          <p:cNvPr id="6146" name="Picture 2" descr="Roadmap to Linux Device Drivers">
            <a:extLst>
              <a:ext uri="{FF2B5EF4-FFF2-40B4-BE49-F238E27FC236}">
                <a16:creationId xmlns:a16="http://schemas.microsoft.com/office/drawing/2014/main" id="{EC83153E-70C2-AC4B-2EF3-9F5DAD258B4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475383" y="2033783"/>
            <a:ext cx="6246563" cy="3926342"/>
          </a:xfrm>
          <a:prstGeom prst="rect">
            <a:avLst/>
          </a:prstGeom>
          <a:ln w="88900" cap="sq" cmpd="thickThin">
            <a:solidFill>
              <a:srgbClr val="000000"/>
            </a:solidFill>
            <a:prstDash val="solid"/>
            <a:miter lim="800000"/>
          </a:ln>
          <a:effectLst>
            <a:innerShdw blurRad="76200">
              <a:srgbClr val="000000"/>
            </a:innerShdw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78278701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8F517E-9C8D-2E89-2D59-70839C336795}"/>
              </a:ext>
            </a:extLst>
          </p:cNvPr>
          <p:cNvSpPr txBox="1"/>
          <p:nvPr/>
        </p:nvSpPr>
        <p:spPr>
          <a:xfrm>
            <a:off x="2258458" y="360669"/>
            <a:ext cx="770079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File System Calls</a:t>
            </a: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225A694-BA05-3C13-42E4-9F648A091F9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0738905"/>
              </p:ext>
            </p:extLst>
          </p:nvPr>
        </p:nvGraphicFramePr>
        <p:xfrm>
          <a:off x="738130" y="1410159"/>
          <a:ext cx="10510092" cy="4997986"/>
        </p:xfrm>
        <a:graphic>
          <a:graphicData uri="http://schemas.openxmlformats.org/drawingml/2006/table">
            <a:tbl>
              <a:tblPr firstRow="1" bandRow="1">
                <a:tableStyleId>{7DF18680-E054-41AD-8BC1-D1AEF772440D}</a:tableStyleId>
              </a:tblPr>
              <a:tblGrid>
                <a:gridCol w="5255046">
                  <a:extLst>
                    <a:ext uri="{9D8B030D-6E8A-4147-A177-3AD203B41FA5}">
                      <a16:colId xmlns:a16="http://schemas.microsoft.com/office/drawing/2014/main" val="1805002897"/>
                    </a:ext>
                  </a:extLst>
                </a:gridCol>
                <a:gridCol w="5255046">
                  <a:extLst>
                    <a:ext uri="{9D8B030D-6E8A-4147-A177-3AD203B41FA5}">
                      <a16:colId xmlns:a16="http://schemas.microsoft.com/office/drawing/2014/main" val="3515371897"/>
                    </a:ext>
                  </a:extLst>
                </a:gridCol>
              </a:tblGrid>
              <a:tr h="738130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System Call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8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Purpose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73834851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Open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99586962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Read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64378643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Write data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61154681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Close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66013854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lseek()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Move file pointer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485554134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stat()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Get file information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074276244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chmod()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Change permissions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04159304"/>
                  </a:ext>
                </a:extLst>
              </a:tr>
              <a:tr h="532482"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unlink()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>
                        <a:buNone/>
                      </a:pPr>
                      <a:r>
                        <a:rPr lang="en-IN" sz="2600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Delete file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041411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420849961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565BCB-9506-F432-50A3-9C529EE5691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2558" y="1046602"/>
            <a:ext cx="5488357" cy="5569027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8F34C3A-C0DC-BA54-8C09-A20D31AC4E7D}"/>
              </a:ext>
            </a:extLst>
          </p:cNvPr>
          <p:cNvSpPr txBox="1"/>
          <p:nvPr/>
        </p:nvSpPr>
        <p:spPr>
          <a:xfrm>
            <a:off x="308473" y="143220"/>
            <a:ext cx="1134737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Interaction Between User Processes and Kernel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2933DA-DFC4-BED0-D895-85029F9BEA8E}"/>
              </a:ext>
            </a:extLst>
          </p:cNvPr>
          <p:cNvSpPr txBox="1"/>
          <p:nvPr/>
        </p:nvSpPr>
        <p:spPr>
          <a:xfrm>
            <a:off x="6585332" y="2348813"/>
            <a:ext cx="5054109" cy="26776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GB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Steps: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User application requests service.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 call enters kernel mode.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performs operation. </a:t>
            </a:r>
          </a:p>
          <a:p>
            <a:pPr>
              <a:buFont typeface="+mj-lt"/>
              <a:buAutoNum type="arabicPeriod"/>
            </a:pPr>
            <a:r>
              <a:rPr lang="en-GB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 returned to application.</a:t>
            </a:r>
          </a:p>
        </p:txBody>
      </p:sp>
    </p:spTree>
    <p:extLst>
      <p:ext uri="{BB962C8B-B14F-4D97-AF65-F5344CB8AC3E}">
        <p14:creationId xmlns:p14="http://schemas.microsoft.com/office/powerpoint/2010/main" val="39440441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C607650-FF08-BAEF-05EB-8662869317B0}"/>
              </a:ext>
            </a:extLst>
          </p:cNvPr>
          <p:cNvSpPr txBox="1"/>
          <p:nvPr/>
        </p:nvSpPr>
        <p:spPr>
          <a:xfrm>
            <a:off x="1865523" y="181777"/>
            <a:ext cx="8460954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Complete Working Flow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173976F-2C61-E07F-53F7-7D73ECF731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294043" y="1101687"/>
            <a:ext cx="5563518" cy="55745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14668097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ECE358C9-693D-B960-2996-65A9B891E7AF}"/>
              </a:ext>
            </a:extLst>
          </p:cNvPr>
          <p:cNvSpPr txBox="1"/>
          <p:nvPr/>
        </p:nvSpPr>
        <p:spPr>
          <a:xfrm>
            <a:off x="1222872" y="393719"/>
            <a:ext cx="9474506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Advantages of Linux Resource Management</a:t>
            </a:r>
            <a:endParaRPr lang="en-IN" sz="4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02F7A85E-02F5-C5F6-043C-D9AD6E670C06}"/>
              </a:ext>
            </a:extLst>
          </p:cNvPr>
          <p:cNvSpPr>
            <a:spLocks noChangeArrowheads="1"/>
          </p:cNvSpPr>
          <p:nvPr/>
        </p:nvSpPr>
        <p:spPr bwMode="auto">
          <a:xfrm>
            <a:off x="3609861" y="1724523"/>
            <a:ext cx="5291768" cy="424731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3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Efficient multitasking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Secure multi-user access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Reliable file sharing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Better hardware utilization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Process isolation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Stable and scalable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High performance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Open-source flexibility </a:t>
            </a:r>
          </a:p>
        </p:txBody>
      </p:sp>
    </p:spTree>
    <p:extLst>
      <p:ext uri="{BB962C8B-B14F-4D97-AF65-F5344CB8AC3E}">
        <p14:creationId xmlns:p14="http://schemas.microsoft.com/office/powerpoint/2010/main" val="23475536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2E4C1E8-877A-9223-D73E-8888AC0E334A}"/>
              </a:ext>
            </a:extLst>
          </p:cNvPr>
          <p:cNvSpPr txBox="1"/>
          <p:nvPr/>
        </p:nvSpPr>
        <p:spPr>
          <a:xfrm>
            <a:off x="1938969" y="272534"/>
            <a:ext cx="784400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IN" sz="4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5C99EAFF-B34B-1AB8-EF9E-9BD59C6D19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373901" y="1365134"/>
            <a:ext cx="6422835" cy="498598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8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Linux efficiently manages CPU, memory, files, and devices.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System calls act as the communication bridge between applications and the kernel.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Kernel ensures secure resource allocation and hardware access. 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Char char="•"/>
              <a:tabLst/>
            </a:pPr>
            <a:r>
              <a:rPr kumimoji="0" lang="en-US" altLang="en-US" sz="3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Times New Roman" panose="02020603050405020304" pitchFamily="18" charset="0"/>
                <a:cs typeface="Times New Roman" panose="02020603050405020304" pitchFamily="18" charset="0"/>
              </a:rPr>
              <a:t> Multi-user support makes Linux ideal for enterprise servers and cloud environments. </a:t>
            </a:r>
          </a:p>
        </p:txBody>
      </p:sp>
      <p:pic>
        <p:nvPicPr>
          <p:cNvPr id="9219" name="Picture 3">
            <a:extLst>
              <a:ext uri="{FF2B5EF4-FFF2-40B4-BE49-F238E27FC236}">
                <a16:creationId xmlns:a16="http://schemas.microsoft.com/office/drawing/2014/main" id="{2E3A4F45-809F-5408-097E-336FDB528B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97585" y="1707614"/>
            <a:ext cx="5395264" cy="434064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6954529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42" name="Picture 2" descr="The New York Times Paywall Case Study | PPTX">
            <a:extLst>
              <a:ext uri="{FF2B5EF4-FFF2-40B4-BE49-F238E27FC236}">
                <a16:creationId xmlns:a16="http://schemas.microsoft.com/office/drawing/2014/main" id="{01B00636-94A5-0C3F-AF5A-148A097F4CD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0"/>
            <a:ext cx="12192000" cy="68580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3781304632"/>
      </p:ext>
    </p:extLst>
  </p:cSld>
  <p:clrMapOvr>
    <a:masterClrMapping/>
  </p:clrMapOvr>
</p:sld>
</file>

<file path=ppt/theme/theme1.xml><?xml version="1.0" encoding="utf-8"?>
<a:theme xmlns:a="http://schemas.openxmlformats.org/drawingml/2006/main" name="Droplet">
  <a:themeElements>
    <a:clrScheme name="Droplet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Droplet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Droplet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{97F10AD1-EA48-462F-B28A-E1745DB4A507}TF62d0d592-7ac2-4846-a919-75806e8bead47c13978d-7a72a11451b2</Template>
  <TotalTime>77</TotalTime>
  <Words>390</Words>
  <Application>Microsoft Office PowerPoint</Application>
  <PresentationFormat>Widescreen</PresentationFormat>
  <Paragraphs>115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Times New Roman</vt:lpstr>
      <vt:lpstr>Tw Cen MT</vt:lpstr>
      <vt:lpstr>Wingdings</vt:lpstr>
      <vt:lpstr>Droplet</vt:lpstr>
      <vt:lpstr>operating System Resource Management in a Multi-User Linux-Based Server Environment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Dekkshitha Anand</dc:creator>
  <cp:lastModifiedBy>Dekkshitha Anand</cp:lastModifiedBy>
  <cp:revision>6</cp:revision>
  <dcterms:created xsi:type="dcterms:W3CDTF">2026-07-20T15:55:12Z</dcterms:created>
  <dcterms:modified xsi:type="dcterms:W3CDTF">2026-07-21T04:48:56Z</dcterms:modified>
</cp:coreProperties>
</file>